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6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7498079" y="-1463040"/>
            <a:ext cx="4846320" cy="48463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95360" y="4158756"/>
            <a:ext cx="3383280" cy="338328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-914400" y="4114800"/>
            <a:ext cx="2743200" cy="2743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7095" y="914400"/>
            <a:ext cx="7035265" cy="18420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200" b="1" dirty="0" err="1">
                <a:solidFill>
                  <a:srgbClr val="FFFFFF"/>
                </a:solidFill>
                <a:latin typeface="Aptos"/>
              </a:rPr>
              <a:t>Plateforme</a:t>
            </a:r>
            <a:r>
              <a:rPr sz="4200" b="1" dirty="0">
                <a:solidFill>
                  <a:srgbClr val="FFFFFF"/>
                </a:solidFill>
                <a:latin typeface="Aptos"/>
              </a:rPr>
              <a:t> IA de
</a:t>
            </a:r>
            <a:r>
              <a:rPr sz="4200" b="1" dirty="0" err="1">
                <a:solidFill>
                  <a:srgbClr val="FFFFFF"/>
                </a:solidFill>
                <a:latin typeface="Aptos"/>
              </a:rPr>
              <a:t>Recommandation</a:t>
            </a:r>
            <a:r>
              <a:rPr sz="4200" b="1" dirty="0">
                <a:solidFill>
                  <a:srgbClr val="FFFFFF"/>
                </a:solidFill>
                <a:latin typeface="Aptos"/>
              </a:rPr>
              <a:t> de
Stages et </a:t>
            </a:r>
            <a:r>
              <a:rPr sz="4200" b="1" dirty="0" err="1">
                <a:solidFill>
                  <a:srgbClr val="FFFFFF"/>
                </a:solidFill>
                <a:latin typeface="Aptos"/>
              </a:rPr>
              <a:t>d'Emplois</a:t>
            </a:r>
            <a:endParaRPr sz="4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3794760"/>
            <a:ext cx="6080760" cy="584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0" dirty="0">
                <a:solidFill>
                  <a:srgbClr val="E2E8F0"/>
                </a:solidFill>
                <a:latin typeface="Aptos"/>
              </a:rPr>
              <a:t>Du CV brut aux </a:t>
            </a:r>
            <a:r>
              <a:rPr sz="2000" b="0" dirty="0" err="1">
                <a:solidFill>
                  <a:srgbClr val="E2E8F0"/>
                </a:solidFill>
                <a:latin typeface="Aptos"/>
              </a:rPr>
              <a:t>opportunites</a:t>
            </a:r>
            <a:r>
              <a:rPr sz="2000" b="0" dirty="0">
                <a:solidFill>
                  <a:srgbClr val="E2E8F0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E2E8F0"/>
                </a:solidFill>
                <a:latin typeface="Aptos"/>
              </a:rPr>
              <a:t>classees</a:t>
            </a:r>
            <a:r>
              <a:rPr sz="2000" b="0" dirty="0">
                <a:solidFill>
                  <a:srgbClr val="E2E8F0"/>
                </a:solidFill>
                <a:latin typeface="Aptos"/>
              </a:rPr>
              <a:t>, </a:t>
            </a:r>
            <a:r>
              <a:rPr sz="2000" b="0" dirty="0" err="1">
                <a:solidFill>
                  <a:srgbClr val="E2E8F0"/>
                </a:solidFill>
                <a:latin typeface="Aptos"/>
              </a:rPr>
              <a:t>expliquees</a:t>
            </a:r>
            <a:r>
              <a:rPr sz="2000" b="0" dirty="0">
                <a:solidFill>
                  <a:srgbClr val="E2E8F0"/>
                </a:solidFill>
                <a:latin typeface="Aptos"/>
              </a:rPr>
              <a:t> et </a:t>
            </a:r>
            <a:r>
              <a:rPr sz="2000" b="0" dirty="0" err="1">
                <a:solidFill>
                  <a:srgbClr val="E2E8F0"/>
                </a:solidFill>
                <a:latin typeface="Aptos"/>
              </a:rPr>
              <a:t>actionnables</a:t>
            </a:r>
            <a:r>
              <a:rPr sz="2000" b="0" dirty="0">
                <a:solidFill>
                  <a:srgbClr val="E2E8F0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00600"/>
            <a:ext cx="1417320" cy="347472"/>
          </a:xfrm>
          <a:prstGeom prst="roundRect">
            <a:avLst>
              <a:gd name="adj" fmla="val 4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PFA 2025 - 2026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4800600"/>
            <a:ext cx="1828800" cy="347472"/>
          </a:xfrm>
          <a:prstGeom prst="roundRect">
            <a:avLst>
              <a:gd name="adj" fmla="val 45000"/>
            </a:avLst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Django + React + NLP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800600"/>
            <a:ext cx="1600200" cy="347472"/>
          </a:xfrm>
          <a:prstGeom prst="roundRect">
            <a:avLst>
              <a:gd name="adj" fmla="val 4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Marche marocain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33872"/>
            <a:ext cx="5943600" cy="4093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1" dirty="0">
                <a:solidFill>
                  <a:srgbClr val="E2E8F0"/>
                </a:solidFill>
                <a:latin typeface="Aptos"/>
              </a:rPr>
              <a:t>El Mehdi Ribahi  |  Ayman Ould-</a:t>
            </a:r>
            <a:r>
              <a:rPr sz="1400" b="1" i="1" dirty="0" err="1">
                <a:solidFill>
                  <a:srgbClr val="E2E8F0"/>
                </a:solidFill>
                <a:latin typeface="Aptos"/>
              </a:rPr>
              <a:t>Naghouch</a:t>
            </a:r>
            <a:r>
              <a:rPr sz="1400" b="1" i="1" dirty="0">
                <a:solidFill>
                  <a:srgbClr val="E2E8F0"/>
                </a:solidFill>
                <a:latin typeface="Aptos"/>
              </a:rPr>
              <a:t>
</a:t>
            </a:r>
            <a:r>
              <a:rPr sz="1400" b="1" i="1" dirty="0" err="1">
                <a:solidFill>
                  <a:srgbClr val="E2E8F0"/>
                </a:solidFill>
                <a:latin typeface="Aptos"/>
              </a:rPr>
              <a:t>Encadrant</a:t>
            </a:r>
            <a:r>
              <a:rPr sz="1400" b="1" i="1" dirty="0">
                <a:solidFill>
                  <a:srgbClr val="E2E8F0"/>
                </a:solidFill>
                <a:latin typeface="Aptos"/>
              </a:rPr>
              <a:t> : M. Gamal Mohamed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80" y="1568918"/>
            <a:ext cx="26974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1868263"/>
            <a:ext cx="731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 dirty="0">
                <a:solidFill>
                  <a:srgbClr val="4F46E5"/>
                </a:solidFill>
                <a:latin typeface="Aptos"/>
              </a:rPr>
              <a:t>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39" y="2533850"/>
            <a:ext cx="1600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92222" y="2991131"/>
            <a:ext cx="18288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3399804"/>
            <a:ext cx="20574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19288" y="4178808"/>
            <a:ext cx="914400" cy="329184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2222" y="4288536"/>
            <a:ext cx="73152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1" dirty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19" name="Oval 18"/>
          <p:cNvSpPr/>
          <p:nvPr/>
        </p:nvSpPr>
        <p:spPr>
          <a:xfrm>
            <a:off x="9833811" y="3756259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93808" y="416052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IA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511B2BD4-138E-AAC9-93F7-28A2F4D61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55006"/>
            <a:ext cx="4693920" cy="1264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4F46E5"/>
                </a:solidFill>
                <a:latin typeface="Aptos"/>
              </a:rPr>
              <a:t>1. PROBLEME TERRAIN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77240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0F172A"/>
                </a:solidFill>
                <a:latin typeface="Aptos"/>
              </a:rPr>
              <a:t>La recherche de stage reste trop manuelle pour un marche devenu data-driven.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72237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dirty="0">
                <a:solidFill>
                  <a:srgbClr val="475569"/>
                </a:solidFill>
                <a:latin typeface="Aptos"/>
              </a:rPr>
              <a:t>Les </a:t>
            </a:r>
            <a:r>
              <a:rPr sz="1600" b="0" dirty="0" err="1">
                <a:solidFill>
                  <a:srgbClr val="475569"/>
                </a:solidFill>
                <a:latin typeface="Aptos"/>
              </a:rPr>
              <a:t>etudiants</a:t>
            </a:r>
            <a:r>
              <a:rPr sz="1600" b="0" dirty="0">
                <a:solidFill>
                  <a:srgbClr val="475569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Aptos"/>
              </a:rPr>
              <a:t>multiplient</a:t>
            </a:r>
            <a:r>
              <a:rPr sz="1600" b="0" dirty="0">
                <a:solidFill>
                  <a:srgbClr val="475569"/>
                </a:solidFill>
                <a:latin typeface="Aptos"/>
              </a:rPr>
              <a:t> les </a:t>
            </a:r>
            <a:r>
              <a:rPr sz="1600" b="0" dirty="0" err="1">
                <a:solidFill>
                  <a:srgbClr val="475569"/>
                </a:solidFill>
                <a:latin typeface="Aptos"/>
              </a:rPr>
              <a:t>plateformes</a:t>
            </a:r>
            <a:r>
              <a:rPr sz="1600" b="0" dirty="0">
                <a:solidFill>
                  <a:srgbClr val="475569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475569"/>
                </a:solidFill>
                <a:latin typeface="Aptos"/>
              </a:rPr>
              <a:t>adaptent</a:t>
            </a:r>
            <a:r>
              <a:rPr sz="1600" b="0" dirty="0">
                <a:solidFill>
                  <a:srgbClr val="475569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Aptos"/>
              </a:rPr>
              <a:t>rarement</a:t>
            </a:r>
            <a:r>
              <a:rPr sz="1600" b="0" dirty="0">
                <a:solidFill>
                  <a:srgbClr val="475569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Aptos"/>
              </a:rPr>
              <a:t>leur</a:t>
            </a:r>
            <a:r>
              <a:rPr sz="1600" b="0" dirty="0">
                <a:solidFill>
                  <a:srgbClr val="475569"/>
                </a:solidFill>
                <a:latin typeface="Aptos"/>
              </a:rPr>
              <a:t> CV, et ne </a:t>
            </a:r>
            <a:r>
              <a:rPr sz="1600" b="0" dirty="0" err="1">
                <a:solidFill>
                  <a:srgbClr val="475569"/>
                </a:solidFill>
                <a:latin typeface="Aptos"/>
              </a:rPr>
              <a:t>savent</a:t>
            </a:r>
            <a:r>
              <a:rPr sz="1600" b="0" dirty="0">
                <a:solidFill>
                  <a:srgbClr val="475569"/>
                </a:solidFill>
                <a:latin typeface="Aptos"/>
              </a:rPr>
              <a:t> pas </a:t>
            </a:r>
            <a:r>
              <a:rPr sz="1600" b="0" dirty="0" err="1">
                <a:solidFill>
                  <a:srgbClr val="475569"/>
                </a:solidFill>
                <a:latin typeface="Aptos"/>
              </a:rPr>
              <a:t>pourquoi</a:t>
            </a:r>
            <a:r>
              <a:rPr sz="1600" b="0" dirty="0">
                <a:solidFill>
                  <a:srgbClr val="475569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Aptos"/>
              </a:rPr>
              <a:t>une</a:t>
            </a:r>
            <a:r>
              <a:rPr sz="1600" b="0" dirty="0">
                <a:solidFill>
                  <a:srgbClr val="475569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Aptos"/>
              </a:rPr>
              <a:t>offre</a:t>
            </a:r>
            <a:r>
              <a:rPr sz="1600" b="0" dirty="0">
                <a:solidFill>
                  <a:srgbClr val="475569"/>
                </a:solidFill>
                <a:latin typeface="Aptos"/>
              </a:rPr>
              <a:t> correspond </a:t>
            </a:r>
            <a:r>
              <a:rPr sz="1600" b="0" dirty="0" err="1">
                <a:solidFill>
                  <a:srgbClr val="475569"/>
                </a:solidFill>
                <a:latin typeface="Aptos"/>
              </a:rPr>
              <a:t>ou</a:t>
            </a:r>
            <a:r>
              <a:rPr sz="1600" b="0" dirty="0">
                <a:solidFill>
                  <a:srgbClr val="475569"/>
                </a:solidFill>
                <a:latin typeface="Aptos"/>
              </a:rPr>
              <a:t> non a </a:t>
            </a:r>
            <a:r>
              <a:rPr sz="1600" b="0" dirty="0" err="1">
                <a:solidFill>
                  <a:srgbClr val="475569"/>
                </a:solidFill>
                <a:latin typeface="Aptos"/>
              </a:rPr>
              <a:t>leur</a:t>
            </a:r>
            <a:r>
              <a:rPr sz="1600" b="0" dirty="0">
                <a:solidFill>
                  <a:srgbClr val="475569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475569"/>
                </a:solidFill>
                <a:latin typeface="Aptos"/>
              </a:rPr>
              <a:t>profil</a:t>
            </a:r>
            <a:r>
              <a:rPr sz="1600" b="0" dirty="0">
                <a:solidFill>
                  <a:srgbClr val="475569"/>
                </a:solidFill>
                <a:latin typeface="Apto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4F46E5"/>
                </a:solidFill>
                <a:latin typeface="Aptos"/>
              </a:rPr>
              <a:t>53,3%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>
                <a:solidFill>
                  <a:srgbClr val="475569"/>
                </a:solidFill>
                <a:latin typeface="Aptos"/>
              </a:rPr>
              <a:t>difficulte a preparer un CV efficace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306324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4F46E5"/>
                </a:solidFill>
                <a:latin typeface="Aptos"/>
              </a:rPr>
              <a:t>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361188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>
                <a:solidFill>
                  <a:srgbClr val="475569"/>
                </a:solidFill>
                <a:latin typeface="Aptos"/>
              </a:rPr>
              <a:t>ne savent pas ou chercher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306324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4F46E5"/>
                </a:solidFill>
                <a:latin typeface="Aptos"/>
              </a:rPr>
              <a:t>43,3%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61188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>
                <a:solidFill>
                  <a:srgbClr val="475569"/>
                </a:solidFill>
                <a:latin typeface="Aptos"/>
              </a:rPr>
              <a:t>difficulte a trouver les entreprises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06324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4F46E5"/>
                </a:solidFill>
                <a:latin typeface="Aptos"/>
              </a:rP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61188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>
                <a:solidFill>
                  <a:srgbClr val="475569"/>
                </a:solidFill>
                <a:latin typeface="Aptos"/>
              </a:rPr>
              <a:t>besoin d'aide pour reussir les entretiens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800600"/>
            <a:ext cx="107442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00176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4F46E5"/>
                </a:solidFill>
                <a:latin typeface="Aptos"/>
              </a:rPr>
              <a:t>Question de recherche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956048"/>
            <a:ext cx="795527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F172A"/>
                </a:solidFill>
                <a:latin typeface="Aptos"/>
              </a:rPr>
              <a:t>Comment recommander automatiquement les opportunites les plus pertinentes tout en rendant le score compréhensible, robuste et exploitable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800" b="1">
                <a:solidFill>
                  <a:srgbClr val="475569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22C55E"/>
                </a:solidFill>
                <a:latin typeface="Aptos"/>
              </a:rPr>
              <a:t>2.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FFFFFF"/>
                </a:solidFill>
                <a:latin typeface="Aptos"/>
              </a:rPr>
              <a:t>Un assistant intelligent qui comprend le CV, classe les offres et explique ses recommandations.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834640"/>
            <a:ext cx="2286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305409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C084F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40156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F172A"/>
                </a:solidFill>
                <a:latin typeface="Aptos"/>
              </a:rPr>
              <a:t>Centraliser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822191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475569"/>
                </a:solidFill>
                <a:latin typeface="Aptos"/>
              </a:rPr>
              <a:t>Offres locales et donnees structurees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46120" y="3657600"/>
            <a:ext cx="393191" cy="0"/>
          </a:xfrm>
          <a:prstGeom prst="line">
            <a:avLst/>
          </a:prstGeom>
          <a:ln w="2794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2834640"/>
            <a:ext cx="2286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67328" y="305409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C084F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340156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F172A"/>
                </a:solidFill>
                <a:latin typeface="Aptos"/>
              </a:rPr>
              <a:t>Comprendre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3822191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475569"/>
                </a:solidFill>
                <a:latin typeface="Aptos"/>
              </a:rPr>
              <a:t>Parsing CV + extraction competences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0" y="3657600"/>
            <a:ext cx="393192" cy="0"/>
          </a:xfrm>
          <a:prstGeom prst="line">
            <a:avLst/>
          </a:prstGeom>
          <a:ln w="2794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63640" y="2834640"/>
            <a:ext cx="2286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305409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C084FC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340156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F172A"/>
                </a:solidFill>
                <a:latin typeface="Aptos"/>
              </a:rPr>
              <a:t>Matcher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822191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475569"/>
                </a:solidFill>
                <a:latin typeface="Aptos"/>
              </a:rPr>
              <a:t>TF-IDF, similarite cosinus, scoring hybride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41080" y="3657600"/>
            <a:ext cx="393192" cy="0"/>
          </a:xfrm>
          <a:prstGeom prst="line">
            <a:avLst/>
          </a:prstGeom>
          <a:ln w="2794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61120" y="2834640"/>
            <a:ext cx="2286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62288" y="305409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>
                <a:solidFill>
                  <a:srgbClr val="C084FC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340156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F172A"/>
                </a:solidFill>
                <a:latin typeface="Aptos"/>
              </a:rPr>
              <a:t>Accompagner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3822191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475569"/>
                </a:solidFill>
                <a:latin typeface="Aptos"/>
              </a:rPr>
              <a:t>Lettre IA, entretien, suivi candidature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40680"/>
            <a:ext cx="9784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0">
                <a:solidFill>
                  <a:srgbClr val="E2E8F0"/>
                </a:solidFill>
                <a:latin typeface="Aptos"/>
              </a:rPr>
              <a:t>Ce n'est pas un job board de plus : c'est une couche d'intelligence au-dessus du parcours candidat.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282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800" b="1">
                <a:solidFill>
                  <a:srgbClr val="475569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4F46E5"/>
                </a:solidFill>
                <a:latin typeface="Aptos"/>
              </a:rPr>
              <a:t>3. EXPERIENCE 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784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F172A"/>
                </a:solidFill>
                <a:latin typeface="Aptos"/>
              </a:rPr>
              <a:t>Trois espaces, une meme logique : reduire le mismatch entre profil, offre et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32461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2416" y="242316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4414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0F172A"/>
                </a:solidFill>
                <a:latin typeface="Aptos"/>
              </a:rPr>
              <a:t>Etudiant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15468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475569"/>
                </a:solidFill>
                <a:latin typeface="Aptos"/>
              </a:rPr>
              <a:t>Upload CV
Recommandations personnalisees
Candidature + suivi
Coaching 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148840"/>
            <a:ext cx="32461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745736" y="2423160"/>
            <a:ext cx="457200" cy="45720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9240" y="24414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0F172A"/>
                </a:solidFill>
                <a:latin typeface="Aptos"/>
              </a:rPr>
              <a:t>Entreprise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15468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475569"/>
                </a:solidFill>
                <a:latin typeface="Aptos"/>
              </a:rPr>
              <a:t>Publication d'offres
Gestion des candidatures
Acces profils
Statuts et 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48840"/>
            <a:ext cx="32461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49056" y="242316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24414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0F172A"/>
                </a:solidFill>
                <a:latin typeface="Aptos"/>
              </a:rPr>
              <a:t>Administrateur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15468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475569"/>
                </a:solidFill>
                <a:latin typeface="Aptos"/>
              </a:rPr>
              <a:t>Supervision
Scraping marche
Statistiques
Gestion utilisateurs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800" b="1">
                <a:solidFill>
                  <a:srgbClr val="475569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4F46E5"/>
                </a:solidFill>
                <a:latin typeface="Aptos"/>
              </a:rPr>
              <a:t>4. PIPELINE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0F172A"/>
                </a:solidFill>
                <a:latin typeface="Aptos"/>
              </a:rPr>
              <a:t>Du document brut au score explicable.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2316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2578608"/>
            <a:ext cx="2560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4F46E5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7980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F172A"/>
                </a:solidFill>
                <a:latin typeface="Aptos"/>
              </a:rPr>
              <a:t>CV PDF/DOCX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64792" y="2871216"/>
            <a:ext cx="310896" cy="0"/>
          </a:xfrm>
          <a:prstGeom prst="line">
            <a:avLst/>
          </a:prstGeom>
          <a:ln w="2794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947672" y="242316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20824" y="2578608"/>
            <a:ext cx="2560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4F46E5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2264" y="27980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F172A"/>
                </a:solidFill>
                <a:latin typeface="Aptos"/>
              </a:rPr>
              <a:t>Extraction texte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9544" y="2871216"/>
            <a:ext cx="310895" cy="0"/>
          </a:xfrm>
          <a:prstGeom prst="line">
            <a:avLst/>
          </a:prstGeom>
          <a:ln w="2794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92424" y="242316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5576" y="2578608"/>
            <a:ext cx="2560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4F46E5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7980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F172A"/>
                </a:solidFill>
                <a:latin typeface="Aptos"/>
              </a:rPr>
              <a:t>Normalisation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54296" y="2871216"/>
            <a:ext cx="310896" cy="0"/>
          </a:xfrm>
          <a:prstGeom prst="line">
            <a:avLst/>
          </a:prstGeom>
          <a:ln w="2794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37176" y="242316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10328" y="2578608"/>
            <a:ext cx="2560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4F46E5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27980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F172A"/>
                </a:solidFill>
                <a:latin typeface="Aptos"/>
              </a:rPr>
              <a:t>Competences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8" y="2871216"/>
            <a:ext cx="310896" cy="0"/>
          </a:xfrm>
          <a:prstGeom prst="line">
            <a:avLst/>
          </a:prstGeom>
          <a:ln w="2794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1928" y="242316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578608"/>
            <a:ext cx="2560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4F46E5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7980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F172A"/>
                </a:solidFill>
                <a:latin typeface="Aptos"/>
              </a:rPr>
              <a:t>Vectorisation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43800" y="2871216"/>
            <a:ext cx="310896" cy="0"/>
          </a:xfrm>
          <a:prstGeom prst="line">
            <a:avLst/>
          </a:prstGeom>
          <a:ln w="2794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42316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99831" y="2578608"/>
            <a:ext cx="2560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4F46E5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1271" y="27980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F172A"/>
                </a:solidFill>
                <a:latin typeface="Aptos"/>
              </a:rPr>
              <a:t>Matching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88551" y="2871216"/>
            <a:ext cx="310897" cy="0"/>
          </a:xfrm>
          <a:prstGeom prst="line">
            <a:avLst/>
          </a:prstGeom>
          <a:ln w="2794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71432" y="242316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44584" y="2578608"/>
            <a:ext cx="2560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4F46E5"/>
                </a:solidFill>
                <a:latin typeface="Aptos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6024" y="27980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F172A"/>
                </a:solidFill>
                <a:latin typeface="Aptos"/>
              </a:rPr>
              <a:t>Score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433304" y="2871216"/>
            <a:ext cx="310896" cy="0"/>
          </a:xfrm>
          <a:prstGeom prst="line">
            <a:avLst/>
          </a:prstGeom>
          <a:ln w="2794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616184" y="242316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689336" y="2578608"/>
            <a:ext cx="2560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>
                <a:solidFill>
                  <a:srgbClr val="4F46E5"/>
                </a:solidFill>
                <a:latin typeface="Aptos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0776" y="27980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F172A"/>
                </a:solidFill>
                <a:latin typeface="Aptos"/>
              </a:rPr>
              <a:t>Explication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34840"/>
            <a:ext cx="4754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464515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22C55E"/>
                </a:solidFill>
                <a:latin typeface="Aptos"/>
              </a:rPr>
              <a:t>Fallback robuste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4626864"/>
            <a:ext cx="256032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20" b="0">
                <a:solidFill>
                  <a:srgbClr val="475569"/>
                </a:solidFill>
                <a:latin typeface="Aptos"/>
              </a:rPr>
              <a:t>Si l'API Gemini est indisponible, le moteur TF-IDF local assure la continuite du service.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434840"/>
            <a:ext cx="4663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9400" y="464515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C084FC"/>
                </a:solidFill>
                <a:latin typeface="Aptos"/>
              </a:rPr>
              <a:t>XAI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626864"/>
            <a:ext cx="310896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20" b="0">
                <a:solidFill>
                  <a:srgbClr val="475569"/>
                </a:solidFill>
                <a:latin typeface="Aptos"/>
              </a:rPr>
              <a:t>L'utilisateur voit les raisons du score : competences communes, ecarts et priorites.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4282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800" b="1">
                <a:solidFill>
                  <a:srgbClr val="475569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C084FC"/>
                </a:solidFill>
                <a:latin typeface="Aptos"/>
              </a:rPr>
              <a:t>5. MOTEUR DE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ptos"/>
              </a:rPr>
              <a:t>Un score lisible, pas une boite noire.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E2E8F0"/>
                </a:solidFill>
                <a:latin typeface="Aptos"/>
              </a:rPr>
              <a:t>Le matching combine similarite textuelle, competences detectees et signaux contextuels pour produire une recommandation exploitable.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31089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>
                <a:solidFill>
                  <a:srgbClr val="4F46E5"/>
                </a:solidFill>
                <a:latin typeface="Aptos"/>
              </a:rPr>
              <a:t>TF-IDF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475569"/>
                </a:solidFill>
                <a:latin typeface="Aptos"/>
              </a:rPr>
              <a:t>Valorise les termes discriminants du CV et de l'offre.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743200"/>
            <a:ext cx="31089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3063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>
                <a:solidFill>
                  <a:srgbClr val="C084FC"/>
                </a:solidFill>
                <a:latin typeface="Aptos"/>
              </a:rPr>
              <a:t>Cosinus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56616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475569"/>
                </a:solidFill>
                <a:latin typeface="Aptos"/>
              </a:rPr>
              <a:t>Mesure la proximite entre profil candidat et description d'offre.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74320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3063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>
                <a:solidFill>
                  <a:srgbClr val="22C55E"/>
                </a:solidFill>
                <a:latin typeface="Aptos"/>
              </a:rPr>
              <a:t>XAI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566160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475569"/>
                </a:solidFill>
                <a:latin typeface="Aptos"/>
              </a:rPr>
              <a:t>Explique les facteurs qui influencent le resultat.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59552"/>
            <a:ext cx="9692640" cy="467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dirty="0">
                <a:solidFill>
                  <a:srgbClr val="E2E8F0"/>
                </a:solidFill>
                <a:latin typeface="Aptos"/>
              </a:rPr>
              <a:t>le choix TF-IDF est </a:t>
            </a:r>
            <a:r>
              <a:rPr sz="1600" b="0" dirty="0" err="1">
                <a:solidFill>
                  <a:srgbClr val="E2E8F0"/>
                </a:solidFill>
                <a:latin typeface="Aptos"/>
              </a:rPr>
              <a:t>volontaire</a:t>
            </a:r>
            <a:r>
              <a:rPr sz="1600" b="0" dirty="0">
                <a:solidFill>
                  <a:srgbClr val="E2E8F0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E2E8F0"/>
                </a:solidFill>
                <a:latin typeface="Aptos"/>
              </a:rPr>
              <a:t>en</a:t>
            </a:r>
            <a:r>
              <a:rPr sz="1600" b="0" dirty="0">
                <a:solidFill>
                  <a:srgbClr val="E2E8F0"/>
                </a:solidFill>
                <a:latin typeface="Aptos"/>
              </a:rPr>
              <a:t> V1 : </a:t>
            </a:r>
            <a:r>
              <a:rPr sz="1600" b="0" dirty="0" err="1">
                <a:solidFill>
                  <a:srgbClr val="E2E8F0"/>
                </a:solidFill>
                <a:latin typeface="Aptos"/>
              </a:rPr>
              <a:t>rapide</a:t>
            </a:r>
            <a:r>
              <a:rPr sz="1600" b="0" dirty="0">
                <a:solidFill>
                  <a:srgbClr val="E2E8F0"/>
                </a:solidFill>
                <a:latin typeface="Aptos"/>
              </a:rPr>
              <a:t>, interpretable, peu </a:t>
            </a:r>
            <a:r>
              <a:rPr sz="1600" b="0" dirty="0" err="1">
                <a:solidFill>
                  <a:srgbClr val="E2E8F0"/>
                </a:solidFill>
                <a:latin typeface="Aptos"/>
              </a:rPr>
              <a:t>couteux</a:t>
            </a:r>
            <a:r>
              <a:rPr sz="1600" b="0" dirty="0">
                <a:solidFill>
                  <a:srgbClr val="E2E8F0"/>
                </a:solidFill>
                <a:latin typeface="Aptos"/>
              </a:rPr>
              <a:t> et compatible avec un </a:t>
            </a:r>
            <a:r>
              <a:rPr sz="1600" b="0" dirty="0" err="1">
                <a:solidFill>
                  <a:srgbClr val="E2E8F0"/>
                </a:solidFill>
                <a:latin typeface="Aptos"/>
              </a:rPr>
              <a:t>deploiement</a:t>
            </a:r>
            <a:r>
              <a:rPr sz="1600" b="0" dirty="0">
                <a:solidFill>
                  <a:srgbClr val="E2E8F0"/>
                </a:solidFill>
                <a:latin typeface="Aptos"/>
              </a:rPr>
              <a:t> local.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282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800" b="1">
                <a:solidFill>
                  <a:srgbClr val="475569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4F46E5"/>
                </a:solidFill>
                <a:latin typeface="Aptos"/>
              </a:rPr>
              <a:t>6.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9552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0F172A"/>
                </a:solidFill>
                <a:latin typeface="Aptos"/>
              </a:rPr>
              <a:t>Une architecture SaaS claire, securisee et extensible.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40280"/>
            <a:ext cx="23317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254203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4F46E5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063240"/>
            <a:ext cx="164592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475569"/>
                </a:solidFill>
                <a:latin typeface="Aptos"/>
              </a:rPr>
              <a:t>React
TypeScript
Tailwind CSS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3346704"/>
            <a:ext cx="411480" cy="0"/>
          </a:xfrm>
          <a:prstGeom prst="line">
            <a:avLst/>
          </a:prstGeom>
          <a:ln w="2794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0" y="2240280"/>
            <a:ext cx="23317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58768" y="254203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C084FC"/>
                </a:solidFill>
                <a:latin typeface="Aptos"/>
              </a:rPr>
              <a:t>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3063240"/>
            <a:ext cx="164592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475569"/>
                </a:solidFill>
                <a:latin typeface="Aptos"/>
              </a:rPr>
              <a:t>Django REST
JWT
Permissions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3346704"/>
            <a:ext cx="411480" cy="0"/>
          </a:xfrm>
          <a:prstGeom prst="line">
            <a:avLst/>
          </a:prstGeom>
          <a:ln w="27940">
            <a:solidFill>
              <a:srgbClr val="C08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46520" y="2240280"/>
            <a:ext cx="23317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47688" y="254203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22C55E"/>
                </a:solidFill>
                <a:latin typeface="Aptos"/>
              </a:rPr>
              <a:t>IA / NLP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3063240"/>
            <a:ext cx="164592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475569"/>
                </a:solidFill>
                <a:latin typeface="Aptos"/>
              </a:rPr>
              <a:t>Gemini
TF-IDF
Scoring XAI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23960" y="3346704"/>
            <a:ext cx="411480" cy="0"/>
          </a:xfrm>
          <a:prstGeom prst="line">
            <a:avLst/>
          </a:prstGeom>
          <a:ln w="2794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35440" y="2240280"/>
            <a:ext cx="23317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36608" y="254203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F59E0B"/>
                </a:solidFill>
                <a:latin typeface="Aptos"/>
              </a:rPr>
              <a:t>Data &amp; Infra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36608" y="3063240"/>
            <a:ext cx="164592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475569"/>
                </a:solidFill>
                <a:latin typeface="Aptos"/>
              </a:rPr>
              <a:t>PostgreSQL
Docker
Scraping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66360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>
                <a:solidFill>
                  <a:srgbClr val="0F172A"/>
                </a:solidFill>
                <a:latin typeface="Aptos"/>
              </a:rPr>
              <a:t>Choix d'ingenierie : separation frontend/backend, API REST, securite JWT, variables d'environnement, Docker Compose et migration prevue vers PostgreSQL production.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282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800" b="1">
                <a:solidFill>
                  <a:srgbClr val="475569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4F46E5"/>
                </a:solidFill>
                <a:latin typeface="Aptos"/>
              </a:rPr>
              <a:t>7. QUALITE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0F172A"/>
                </a:solidFill>
                <a:latin typeface="Aptos"/>
              </a:rPr>
              <a:t>Ce qui rend le projet defendable techniquement.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4F46E5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892808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F172A"/>
                </a:solidFill>
                <a:latin typeface="Aptos"/>
              </a:rPr>
              <a:t>Securite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920240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475569"/>
                </a:solidFill>
                <a:latin typeface="Aptos"/>
              </a:rPr>
              <a:t>JWT, roles, permissions, CORS maitrise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2432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4F46E5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9689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F172A"/>
                </a:solidFill>
                <a:latin typeface="Aptos"/>
              </a:rPr>
              <a:t>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6243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475569"/>
                </a:solidFill>
                <a:latin typeface="Aptos"/>
              </a:rPr>
              <a:t>Controle type/taille CV, serializers DRF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2841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4F46E5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0984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F172A"/>
                </a:solidFill>
                <a:latin typeface="Aptos"/>
              </a:rPr>
              <a:t>Resilience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32841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475569"/>
                </a:solidFill>
                <a:latin typeface="Aptos"/>
              </a:rPr>
              <a:t>Fallback local si API IA indisponible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3250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4F46E5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05072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F172A"/>
                </a:solidFill>
                <a:latin typeface="Aptos"/>
              </a:rPr>
              <a:t>DevOps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032504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475569"/>
                </a:solidFill>
                <a:latin typeface="Aptos"/>
              </a:rPr>
              <a:t>Docker, variables .env, CI/CD GitHub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3659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4F46E5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709159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F172A"/>
                </a:solidFill>
                <a:latin typeface="Aptos"/>
              </a:rPr>
              <a:t>Scalabilite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736592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475569"/>
                </a:solidFill>
                <a:latin typeface="Aptos"/>
              </a:rPr>
              <a:t>PostgreSQL, indexation, stockage objet en V2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057400"/>
            <a:ext cx="2011680" cy="2651760"/>
          </a:xfrm>
          <a:prstGeom prst="roundRect">
            <a:avLst>
              <a:gd name="adj" fmla="val 8000"/>
            </a:avLst>
          </a:prstGeom>
          <a:solidFill>
            <a:srgbClr val="020617"/>
          </a:solidFill>
          <a:ln w="12700">
            <a:solidFill>
              <a:srgbClr val="020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08592" y="2514600"/>
            <a:ext cx="15087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3200" b="1">
                <a:solidFill>
                  <a:srgbClr val="FFFFFF"/>
                </a:solidFill>
                <a:latin typeface="Aptos"/>
              </a:rPr>
              <a:t>310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154680"/>
            <a:ext cx="141732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E2E8F0"/>
                </a:solidFill>
                <a:latin typeface="Aptos"/>
              </a:rPr>
              <a:t>temps moyen avec cache sur dataset de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4005072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22C55E"/>
                </a:solidFill>
                <a:latin typeface="Aptos"/>
              </a:rPr>
              <a:t>contre 890 ms sans 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282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800" b="1">
                <a:solidFill>
                  <a:srgbClr val="475569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22C55E"/>
                </a:solidFill>
                <a:latin typeface="Aptos"/>
              </a:rPr>
              <a:t>8. RESULTATS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300" b="1">
                <a:solidFill>
                  <a:srgbClr val="FFFFFF"/>
                </a:solidFill>
                <a:latin typeface="Aptos"/>
              </a:rPr>
              <a:t>Une V1 fonctionnelle avec une valeur mesurable.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FFFFFF"/>
                </a:solidFill>
                <a:latin typeface="Aptos"/>
              </a:rPr>
              <a:t>86%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6207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E2E8F0"/>
                </a:solidFill>
                <a:latin typeface="Aptos"/>
              </a:rPr>
              <a:t>Precision top-5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2402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FFFFFF"/>
                </a:solidFill>
                <a:latin typeface="Aptos"/>
              </a:rPr>
              <a:t>78%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86207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E2E8F0"/>
                </a:solidFill>
                <a:latin typeface="Aptos"/>
              </a:rPr>
              <a:t>Recall top-5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402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86207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E2E8F0"/>
                </a:solidFill>
                <a:latin typeface="Aptos"/>
              </a:rPr>
              <a:t>roles utilisateurs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2402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FFFFFF"/>
                </a:solidFill>
                <a:latin typeface="Aptos"/>
              </a:rPr>
              <a:t>18%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86207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E2E8F0"/>
                </a:solidFill>
                <a:latin typeface="Aptos"/>
              </a:rPr>
              <a:t>echec scraping apres correction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012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23160" y="4480560"/>
            <a:ext cx="7635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>
                <a:solidFill>
                  <a:srgbClr val="0F172A"/>
                </a:solidFill>
                <a:latin typeface="Aptos"/>
              </a:rPr>
              <a:t>Les chiffres ne vendent pas une perfection : ils montrent une base testee, consciente de ses limites, et prete a evoluer vers un modele semantique plus profond.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282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800" b="1">
                <a:solidFill>
                  <a:srgbClr val="475569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4F46E5"/>
                </a:solidFill>
                <a:latin typeface="Aptos"/>
              </a:rPr>
              <a:t>9. DIFFERENCIATION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8595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0F172A"/>
                </a:solidFill>
                <a:latin typeface="Aptos"/>
              </a:rPr>
              <a:t>Le projet combine trois leviers rarement reunis dans une V1 etudiante.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03120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203911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0F172A"/>
                </a:solidFill>
                <a:latin typeface="Aptos"/>
              </a:rPr>
              <a:t>Marche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2057400"/>
            <a:ext cx="63093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475569"/>
                </a:solidFill>
                <a:latin typeface="Aptos"/>
              </a:rPr>
              <a:t>Scraping et veille orientes Maroc : Rekrute, Emploi.ma, besoins etudiants locaux.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200400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313639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0F172A"/>
                </a:solidFill>
                <a:latin typeface="Aptos"/>
              </a:rPr>
              <a:t>Recommandation explicable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3154680"/>
            <a:ext cx="63093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475569"/>
                </a:solidFill>
                <a:latin typeface="Aptos"/>
              </a:rPr>
              <a:t>Le score est accompagne de raisons concretes, pas seulement d'un pourcentage.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297680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423367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0F172A"/>
                </a:solidFill>
                <a:latin typeface="Aptos"/>
              </a:rPr>
              <a:t>Coaching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4251960"/>
            <a:ext cx="63093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475569"/>
                </a:solidFill>
                <a:latin typeface="Aptos"/>
              </a:rPr>
              <a:t>Lettre de motivation, preparation entretien et insights carriere.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282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800" b="1">
                <a:solidFill>
                  <a:srgbClr val="47556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4F46E5"/>
                </a:solidFill>
                <a:latin typeface="Aptos"/>
              </a:rPr>
              <a:t>10. LIMITES ASSUMEES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863840" cy="9356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lang="fr-FR" sz="3200" b="1" dirty="0">
                <a:solidFill>
                  <a:srgbClr val="0F172A"/>
                </a:solidFill>
                <a:latin typeface="Aptos"/>
              </a:rPr>
              <a:t>les limites augmente la </a:t>
            </a:r>
            <a:r>
              <a:rPr lang="fr-FR" sz="3200" b="1" dirty="0" err="1">
                <a:solidFill>
                  <a:srgbClr val="0F172A"/>
                </a:solidFill>
                <a:latin typeface="Aptos"/>
              </a:rPr>
              <a:t>credibilite</a:t>
            </a:r>
            <a:r>
              <a:rPr lang="fr-FR" sz="3200" b="1" dirty="0">
                <a:solidFill>
                  <a:srgbClr val="0F172A"/>
                </a:solidFill>
                <a:latin typeface="Aptos"/>
              </a:rPr>
              <a:t> du projet</a:t>
            </a:r>
            <a:r>
              <a:rPr sz="3200" b="1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4983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2377440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>
                <a:solidFill>
                  <a:srgbClr val="EF4444"/>
                </a:solidFill>
                <a:latin typeface="Aptos"/>
              </a:rPr>
              <a:t>Donnees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2377440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>
                <a:solidFill>
                  <a:srgbClr val="475569"/>
                </a:solidFill>
                <a:latin typeface="Aptos"/>
              </a:rPr>
              <a:t>Dataset encore limite pour entrainer du collaborative filtering.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148840"/>
            <a:ext cx="4983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11112" y="2377440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>
                <a:solidFill>
                  <a:srgbClr val="4F46E5"/>
                </a:solidFill>
                <a:latin typeface="Aptos"/>
              </a:rPr>
              <a:t>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2377440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>
                <a:solidFill>
                  <a:srgbClr val="475569"/>
                </a:solidFill>
                <a:latin typeface="Aptos"/>
              </a:rPr>
              <a:t>TF-IDF sensible aux synonymes et a la qualite textuelle.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66160"/>
            <a:ext cx="4983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3794760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>
                <a:solidFill>
                  <a:srgbClr val="4F46E5"/>
                </a:solidFill>
                <a:latin typeface="Aptos"/>
              </a:rPr>
              <a:t>Parsing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3794760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>
                <a:solidFill>
                  <a:srgbClr val="475569"/>
                </a:solidFill>
                <a:latin typeface="Aptos"/>
              </a:rPr>
              <a:t>CV scannes, multicolonnes ou bilingues plus complexes.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566160"/>
            <a:ext cx="4983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1112" y="3794760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>
                <a:solidFill>
                  <a:srgbClr val="4F46E5"/>
                </a:solidFill>
                <a:latin typeface="Aptos"/>
              </a:rPr>
              <a:t>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3794760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0">
                <a:solidFill>
                  <a:srgbClr val="475569"/>
                </a:solidFill>
                <a:latin typeface="Aptos"/>
              </a:rPr>
              <a:t>Besoin de renforcer tests unitaires et integration.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89611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>
                <a:solidFill>
                  <a:srgbClr val="0F172A"/>
                </a:solidFill>
                <a:latin typeface="Aptos"/>
              </a:rPr>
              <a:t>Positionnement : ces limites sont traitees comme une roadmap d'ingenierie, pas comme des faiblesses cachees.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282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800" b="1">
                <a:solidFill>
                  <a:srgbClr val="47556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C084FC"/>
                </a:solidFill>
                <a:latin typeface="Aptos"/>
              </a:rPr>
              <a:t>11.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FFFFFF"/>
                </a:solidFill>
                <a:latin typeface="Aptos"/>
              </a:rPr>
              <a:t>Trois horizons pour passer d'une V1 solide a une plateforme production.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423160"/>
            <a:ext cx="324612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" y="26974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4F46E5"/>
                </a:solidFill>
                <a:latin typeface="Aptos"/>
              </a:rPr>
              <a:t>Court terme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273552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475569"/>
                </a:solidFill>
                <a:latin typeface="Aptos"/>
              </a:rPr>
              <a:t>Tests automatises
Dashboard avance
Meilleure UX mobile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423160"/>
            <a:ext cx="324612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82312" y="26974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4F46E5"/>
                </a:solidFill>
                <a:latin typeface="Aptos"/>
              </a:rPr>
              <a:t>Moyen terme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3273552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475569"/>
                </a:solidFill>
                <a:latin typeface="Aptos"/>
              </a:rPr>
              <a:t>Sentence-BERT
Historique comportemental
Notifications intelligentes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2423160"/>
            <a:ext cx="324612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39911" y="26974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4F46E5"/>
                </a:solidFill>
                <a:latin typeface="Aptos"/>
              </a:rPr>
              <a:t>Long terme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1" y="3273552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475569"/>
                </a:solidFill>
                <a:latin typeface="Aptos"/>
              </a:rPr>
              <a:t>Recommandation hybride
Analytics marche
Deploiement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59552"/>
            <a:ext cx="9829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>
                <a:solidFill>
                  <a:srgbClr val="E2E8F0"/>
                </a:solidFill>
                <a:latin typeface="Aptos"/>
              </a:rPr>
              <a:t>Le prochain vrai saut qualitatif : passer du matching lexical interpretable a un matching semantique profond, tout en conservant l'explicabilite.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282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800" b="1">
                <a:solidFill>
                  <a:srgbClr val="475569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0" y="365760"/>
            <a:ext cx="2926080" cy="2926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65760" y="4389120"/>
            <a:ext cx="2011680" cy="20116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>
                <a:solidFill>
                  <a:srgbClr val="4F46E5"/>
                </a:solidFill>
                <a:latin typeface="Apto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8686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500" b="1">
                <a:solidFill>
                  <a:srgbClr val="0F172A"/>
                </a:solidFill>
                <a:latin typeface="Aptos"/>
              </a:rPr>
              <a:t>Nous avons construit plus qu'une application : un moteur de decision explicable pour le parcours stage.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74980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0">
                <a:solidFill>
                  <a:srgbClr val="475569"/>
                </a:solidFill>
                <a:latin typeface="Aptos"/>
              </a:rPr>
              <a:t>La valeur du projet tient dans l'alignement entre besoin terrain, architecture SaaS, pipeline NLP, et accompagnement IA du candidat.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30175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462272"/>
            <a:ext cx="201168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F172A"/>
                </a:solidFill>
                <a:latin typeface="Aptos"/>
              </a:rPr>
              <a:t>Probleme reel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4160520"/>
            <a:ext cx="30175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4462272"/>
            <a:ext cx="219456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F172A"/>
                </a:solidFill>
                <a:latin typeface="Aptos"/>
              </a:rPr>
              <a:t>Solution fonctionnelle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4160520"/>
            <a:ext cx="30175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52360" y="4462272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F172A"/>
                </a:solidFill>
                <a:latin typeface="Aptos"/>
              </a:rPr>
              <a:t>Evolution credible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89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4F46E5"/>
                </a:solidFill>
                <a:latin typeface="Aptos"/>
              </a:rPr>
              <a:t>Merci pour votre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282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800" b="1">
                <a:solidFill>
                  <a:srgbClr val="475569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C9DCDFA-D73B-04C4-1D05-49ABCA268A54}"/>
              </a:ext>
            </a:extLst>
          </p:cNvPr>
          <p:cNvSpPr txBox="1"/>
          <p:nvPr/>
        </p:nvSpPr>
        <p:spPr>
          <a:xfrm>
            <a:off x="2887579" y="2382070"/>
            <a:ext cx="60960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4000" b="1" i="1" dirty="0"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Questions ?</a:t>
            </a:r>
            <a:endParaRPr lang="fr-FR" sz="4000" b="1" i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26C0E4D-8C42-8754-8190-7F4C2F913A88}"/>
              </a:ext>
            </a:extLst>
          </p:cNvPr>
          <p:cNvSpPr txBox="1"/>
          <p:nvPr/>
        </p:nvSpPr>
        <p:spPr>
          <a:xfrm>
            <a:off x="3882190" y="4547756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i="1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Merci pour </a:t>
            </a:r>
            <a:r>
              <a:rPr lang="en-US" sz="2500" b="1" i="1" dirty="0" err="1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votre</a:t>
            </a:r>
            <a:r>
              <a:rPr lang="en-US" sz="2500" b="1" i="1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attention</a:t>
            </a:r>
            <a:endParaRPr lang="fr-FR" sz="2500" b="1" i="1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AB0473D-E3E7-1ABF-B98A-CF5C8042B9E3}"/>
              </a:ext>
            </a:extLst>
          </p:cNvPr>
          <p:cNvSpPr txBox="1"/>
          <p:nvPr/>
        </p:nvSpPr>
        <p:spPr>
          <a:xfrm>
            <a:off x="2470483" y="5833956"/>
            <a:ext cx="7828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El Mehdi Ribahi   &amp;  Ayman Ould </a:t>
            </a:r>
            <a:r>
              <a:rPr lang="en-US" sz="2000" i="1" dirty="0" err="1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Naghouch</a:t>
            </a:r>
            <a:r>
              <a:rPr lang="en-US" sz="2000" i="1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·   </a:t>
            </a:r>
            <a:r>
              <a:rPr lang="en-US" sz="2000" i="1" dirty="0" err="1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Projet</a:t>
            </a:r>
            <a:r>
              <a:rPr lang="en-US" sz="2000" i="1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PFA  </a:t>
            </a:r>
            <a:endParaRPr lang="fr-FR" sz="2000" i="1" dirty="0"/>
          </a:p>
        </p:txBody>
      </p:sp>
    </p:spTree>
    <p:extLst>
      <p:ext uri="{BB962C8B-B14F-4D97-AF65-F5344CB8AC3E}">
        <p14:creationId xmlns:p14="http://schemas.microsoft.com/office/powerpoint/2010/main" val="3705784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899</Words>
  <Application>Microsoft Office PowerPoint</Application>
  <PresentationFormat>Grand écran</PresentationFormat>
  <Paragraphs>169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Aptos</vt:lpstr>
      <vt:lpstr>Arial</vt:lpstr>
      <vt:lpstr>Instrument Sans Medium</vt:lpstr>
      <vt:lpstr>Instrument Sans Semi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 Mehdi Ribahi</dc:creator>
  <cp:keywords/>
  <dc:description>generated using python-pptx</dc:description>
  <cp:lastModifiedBy>El Mehdi Ribahi</cp:lastModifiedBy>
  <cp:revision>2</cp:revision>
  <dcterms:created xsi:type="dcterms:W3CDTF">2013-01-27T09:14:16Z</dcterms:created>
  <dcterms:modified xsi:type="dcterms:W3CDTF">2026-05-15T19:06:07Z</dcterms:modified>
  <cp:category/>
</cp:coreProperties>
</file>